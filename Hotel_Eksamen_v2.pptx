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1: Intro</a:t>
            </a:r>
          </a:p>
          <a:p>
            <a:r>
              <a:t>Præsenter kort projektet: Vi har bygget et Hotel Management System som backend-API i Spring Boot 4 med tre databaser – MySQL til strukturerede relationsdata, MongoDB til dokumenter og AI-logs, og Neo4j til grafrelationer. Alt kører i Docker Compose og er sikret med JWT-baseret autentificering.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2: Arkitektur</a:t>
            </a:r>
          </a:p>
          <a:p>
            <a:r>
              <a:t>Systemet har én indgang: Spring Boot API'et på port 8080. Klienten sender REST-kald, API'et håndterer JWT-auth og delegerer til den rette database.</a:t>
            </a:r>
          </a:p>
          <a:p>
            <a:r>
              <a:t>MySQL er kilden til sandheden – alle ændringer sker her. Via POST /api/migrate kopieres data til MongoDB og Neo4j.</a:t>
            </a:r>
          </a:p>
          <a:p>
            <a:r>
              <a:t>AI-servicen (Ollama) er en separat container, og LLM-samtale-logs gemmes i MongoDB fordi de er fuldstændigt ustrukturerede.</a:t>
            </a:r>
          </a:p>
          <a:p>
            <a:r>
              <a:t>Vi har to transaction managers: JpaTransactionManager (@Primary) til MySQL/JPA og Neo4jTransactionManager til Neo4j – Spring Boot 4 auto-konfigurerer ikke begge i multi-store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3: ERD</a:t>
            </a:r>
          </a:p>
          <a:p>
            <a:r>
              <a:t>Vi har 13 tabeller. De vigtigste pointer:</a:t>
            </a:r>
          </a:p>
          <a:p>
            <a:r>
              <a:t>1. reservation_guest er en JUNCTION-tabel (lilla) til M:N relationen: én reservation kan have flere gæster, og én gæst kan optræde i flere reservationer. Den har COMPOSITE PK.</a:t>
            </a:r>
          </a:p>
          <a:p>
            <a:r>
              <a:t>2. bill har UNIQUE FK til reservation – det er 1:1. Én reservation = præcis én regning.</a:t>
            </a:r>
          </a:p>
          <a:p>
            <a:r>
              <a:t>3. booked_nightly_price gemmes som SNAPSHOT på reservationen. Selvom season_rate ændres i fremtiden, ved vi altid hvad gæsten faktisk betalte. Det er en bevidst designbeslutning – ikke en normaliseringsovertrædelse.</a:t>
            </a:r>
          </a:p>
          <a:p>
            <a:r>
              <a:t>4. room_cleaning_assignment er endnu en junction-tabel: mange cleaners kan assignes til mange tasks.</a:t>
            </a:r>
          </a:p>
          <a:p>
            <a:r>
              <a:t>5. Alle FK'er er konfigureret med ON DELETE CASCADE eller SET NULL for referentiel integritet.</a:t>
            </a:r>
          </a:p>
          <a:p>
            <a:r>
              <a:t>6. room_type er en lookup-tabel (normalisering 3NF): name og max_occupancy hører til room_type, ikke i room eller 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4: Normalisering</a:t>
            </a:r>
          </a:p>
          <a:p>
            <a:r>
              <a:t>1NF: Hvert felt er atomisk – ingen lister. For eksempel gemmer vi credit_card_last4 som netop 4 cifre, ikke hele kortnummeret. Reservationer er i sin egen tabel, ikke som en tekstliste i guest-tabellen.</a:t>
            </a:r>
          </a:p>
          <a:p>
            <a:r>
              <a:t>2NF: Gælder composite PKs. I reservation_guest afhænger is_primary af BEGGE nøgle-kolonner. Hvis vi havde lagt guest_email her, ville det kun afhænge af guest_id – det ville bryde 2NF.</a:t>
            </a:r>
          </a:p>
          <a:p>
            <a:r>
              <a:t>3NF: Ingen transitive afhængigheder. room_type_name og max_occupancy hører til i room_type-tabellen, ikke i reservation. </a:t>
            </a:r>
          </a:p>
          <a:p>
            <a:r>
              <a:t>Vigtig undtagelse: booked_nightly_price ser ud som transitiv afhængighed, men det er et bevidst historisk snapshot – prisen på bookingstidspunktet skal bevares selv om season_rate ændres.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5: MongoDB</a:t>
            </a:r>
          </a:p>
          <a:p>
            <a:r>
              <a:t>Det centrale designvalg i MongoDB er: skal relaterede data embeddes eller refereres?</a:t>
            </a:r>
          </a:p>
          <a:p>
            <a:r>
              <a:t>Vi embedder reservationer og bills ind i guest-dokumentet fordi vi næsten altid henter dem sammen – det giver os én database-kald i stedet for multiple joins.</a:t>
            </a:r>
          </a:p>
          <a:p>
            <a:r>
              <a:t>Rooms og cleaners er separate collections med referencer, fordi de eksisterer uafhængigt og deles af mange reservationer. Et rum opdateres hyppigt (status), og vi vil ikke opdatere det i hundredvis af embedded dokumenter.</a:t>
            </a:r>
          </a:p>
          <a:p>
            <a:r>
              <a:t>ai_interactions gemmes kun i MongoDB fordi LLM-samtaler er fuldstændigt ustrukturerede – de passer ikke ind i et relationelt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6: Neo4j</a:t>
            </a:r>
          </a:p>
          <a:p>
            <a:r>
              <a:t>Neo4j gemmer data som noder og relationer. Hvert node har et label fx :Guest eller :Room, og properties.</a:t>
            </a:r>
          </a:p>
          <a:p>
            <a:r>
              <a:t>Pile-relationerne er navngivne: BOOKED_BY, ASSIGNED_TO, HAS_BILL osv. Man kan altid se retningen (pilen).</a:t>
            </a:r>
          </a:p>
          <a:p>
            <a:r>
              <a:t>Fordelen: Cypher MATCH-udtryk følger pile naturligt. Fra Guest til Reservation til Room til Task til Cleaner – ét udtryk, ingen JOINs.</a:t>
            </a:r>
          </a:p>
          <a:p>
            <a:r>
              <a:t>Det er specielt stærkt ved multi-hop spørgsmål: 'hvilke cleaners rengør rum booket af gæster med 3+ reservationer?' – trivielt i Cypher, 5 JOINs i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7: Cross-database query</a:t>
            </a:r>
          </a:p>
          <a:p>
            <a:r>
              <a:t>Scenario: find alle bekræftede reservationer til rum 101.</a:t>
            </a:r>
          </a:p>
          <a:p>
            <a:r>
              <a:t>MySQL: To JOINs – reservation til guest og til room. Klassisk SQL med WHERE-filter.</a:t>
            </a:r>
          </a:p>
          <a:p>
            <a:r>
              <a:t>MongoDB: Aggregation pipeline med $unwind (folder embedded reservations-array ud), $match (filter) og $project (vælg felter). Alt i ét dokument-kald.</a:t>
            </a:r>
          </a:p>
          <a:p>
            <a:r>
              <a:t>Neo4j: Cypher pattern MATCH følger pilene direkte. Ingen JOINs – vi traverserer grafen.</a:t>
            </a:r>
          </a:p>
          <a:p>
            <a:r>
              <a:t>Pointen: alle tre giver samme svar, men med vidt forskellige styrker. SQL er bedst til komplekse joins over mange tabeller, MongoDB er bedst til embedded dokument-hierarkier, Neo4j er bedst til multi-hop relationsnavigation.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8: Transaktioner</a:t>
            </a:r>
          </a:p>
          <a:p>
            <a:r>
              <a:t>En transaktion er en gruppe operationer der enten alle lykkes eller alle fejler – aldrig halvt.</a:t>
            </a:r>
          </a:p>
          <a:p>
            <a:r>
              <a:t>Konkret eksempel: en gæst checker ind. Det kræver tre operationer: (1) reservation-status sættes til CHECKED_IN, (2) rummet markeres OCCUPIED, (3) en bill oprettes. Alle tre skal lykkes – ellers er systemet i inkonsistent tilstand.</a:t>
            </a:r>
          </a:p>
          <a:p>
            <a:r>
              <a:t>ACID: A=alt-eller-intet, C=fra valid til valid tilstand, I=concurrent booking af samme rum – kun én lykkes, D=data forbliver gemt ved crash.</a:t>
            </a:r>
          </a:p>
          <a:p>
            <a:r>
              <a:t>I Spring Boot bruger vi @Transactional på service-klassen. Vi har to transaction managers: JpaTransactionManager for MySQL/JPA og Neo4jTransactionManager for Neo4j, og JPA-manageren er @Primary.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9: Indexes</a:t>
            </a:r>
          </a:p>
          <a:p>
            <a:r>
              <a:t>Et index er som en bogs indeks bagerst – i stedet for at læse alle rækker hopper databasen direkte til den rigtige. Uden index: full table scan, O(n). Med index: O(log n).</a:t>
            </a:r>
          </a:p>
          <a:p>
            <a:r>
              <a:t>B-tree index er standardtypen og god til exact match og range queries.</a:t>
            </a:r>
          </a:p>
          <a:p>
            <a:r>
              <a:t>Composite index dækker flere kolonner – vigtigt: man skal altid søge på den første kolonne i indexet for at det virker.</a:t>
            </a:r>
          </a:p>
          <a:p>
            <a:r>
              <a:t>Vi valgte IKKE at indexere occupied-kolonnen fordi den kun har to værdier (lav cardinality) – databasen henter alligevel halvdelen af rækkerne, så indexet hjælper ikke. Det er en bevidst designbeslutning.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9: Security og Auditing</a:t>
            </a:r>
          </a:p>
          <a:p>
            <a:r>
              <a:t>JWT: stateless authentication. Brugeren logger ind og får et token. Fremtidige kald sender dette token i header – serveren verificerer signaturen uden at slå op i databasen. Tokenet indeholder username, rolle og udløbstid.</a:t>
            </a:r>
          </a:p>
          <a:p>
            <a:r>
              <a:t>BCrypt: passwords gemmes aldrig i plain text. BCrypt er en one-way hash – kan ikke gå baglæns. Salt forhindrer rainbow table-angreb.</a:t>
            </a:r>
          </a:p>
          <a:p>
            <a:r>
              <a:t>SQL injection: den klassiske sikkerhedsrisiko. Vi bruger Spring Data JPA parameterized queries – input behandles altid som data, aldrig som SQL-kode.</a:t>
            </a:r>
          </a:p>
          <a:p>
            <a:r>
              <a:t>Audit triggers: en trigger er SQL der kører automatisk ved INSERT/UPDATE/DELETE. Applikationen behøver ikke aktivt at logge – databasen gør det. Hvert audit-entry gemmer hvad der stod FØR og EFTER ændringen som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TALEKORT — Slide 10: Trade-offs og refleksioner</a:t>
            </a:r>
          </a:p>
          <a:p>
            <a:r>
              <a:t>MySQL er valgt fordi hoteldata er inherent relationelt – en gæst booker et rum til en specifik pris, og alt hænger logisk sammen. ACID er kritisk for finansielle transaktioner.</a:t>
            </a:r>
          </a:p>
          <a:p>
            <a:r>
              <a:t>MongoDB er valgt for to formål: embedded dokument-hierarkier til read-optimized gæste-historik, og schema-free storage til AI-logs.</a:t>
            </a:r>
          </a:p>
          <a:p>
            <a:r>
              <a:t>Neo4j er valgt for dens naturlige håndtering af forbindelser og traversals – spørgsmål om 'hvem er forbundet til hvad' er trivielle i Cypher men kræver mange JOINs i SQL.</a:t>
            </a:r>
          </a:p>
          <a:p>
            <a:r>
              <a:t>Hvad vi ville gøre anderledes:</a:t>
            </a:r>
          </a:p>
          <a:p>
            <a:r>
              <a:t>1. Native date-typer i Neo4j i stedet for strings.</a:t>
            </a:r>
          </a:p>
          <a:p>
            <a:r>
              <a:t>2. CDC/Kafka til automatisk sync i stedet for manuel migration.</a:t>
            </a:r>
          </a:p>
          <a:p>
            <a:r>
              <a:t>3. Vi opdagede undervejs at Spring Boot 4 ikke auto-konfigurerer Neo4jTransactionManager når JPA er til stede – det krævede eksplicit konfiguration af to separate transaction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Hotel Management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CCFF"/>
                </a:solidFill>
              </a:rPr>
              <a:t>Databases for Developers — Oral Exam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2743200" cy="502920"/>
          </a:xfrm>
          <a:prstGeom prst="rect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MySQL  (Port 3307)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291840"/>
            <a:ext cx="27432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MongoDB  (Port 27017)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291840"/>
            <a:ext cx="2743200" cy="502920"/>
          </a:xfrm>
          <a:prstGeom prst="rect">
            <a:avLst/>
          </a:prstGeom>
          <a:solidFill>
            <a:srgbClr val="80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Neo4j  (Port 7687)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Spring Boot 4  ·  JWT Auth  ·  Docker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 ·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High-level overview — data flow and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417320"/>
            <a:ext cx="4754880" cy="3291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Spring Boot 4  ·  API :8080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029968"/>
            <a:ext cx="4389120" cy="2743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12140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BCCEE"/>
                </a:solidFill>
              </a:rPr>
              <a:t>JWT Authentication  ·  BCrypt passwords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8833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BCCEE"/>
                </a:solidFill>
              </a:rPr>
              <a:t>Role-based access: ADMIN / STAFF / CLEANER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5526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BCCEE"/>
                </a:solidFill>
              </a:rPr>
              <a:t>@Transactional  (JPA + Neo4j managers)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82219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BCCEE"/>
                </a:solidFill>
              </a:rPr>
              <a:t>REST controllers  →  Service layer  → 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377440"/>
            <a:ext cx="2560320" cy="13716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24688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Client
(Browser / Frontend)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999232"/>
            <a:ext cx="731520" cy="36576"/>
          </a:xfrm>
          <a:prstGeom prst="rect">
            <a:avLst/>
          </a:prstGeom>
          <a:solidFill>
            <a:srgbClr val="77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8163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55588"/>
                </a:solidFill>
              </a:rPr>
              <a:t>REST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160520"/>
            <a:ext cx="2560320" cy="1097280"/>
          </a:xfrm>
          <a:prstGeom prst="rect">
            <a:avLst/>
          </a:prstGeom>
          <a:solidFill>
            <a:srgbClr val="6A2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2519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AI Service
(Ollama / LLM)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544568"/>
            <a:ext cx="731520" cy="36576"/>
          </a:xfrm>
          <a:prstGeom prst="rect">
            <a:avLst/>
          </a:prstGeom>
          <a:solidFill>
            <a:srgbClr val="99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9192" y="436168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84499"/>
                </a:solidFill>
              </a:rPr>
              <a:t>← HTTP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1444752"/>
            <a:ext cx="164592" cy="987552"/>
          </a:xfrm>
          <a:prstGeom prst="rect">
            <a:avLst/>
          </a:prstGeom>
          <a:solidFill>
            <a:srgbClr val="007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4232" y="1444752"/>
            <a:ext cx="3310128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7384" y="15361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</a:rPr>
              <a:t>MySQL  :3307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190195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Source of truth · ACID · FK
Transactions · JOINs · Triggers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920240"/>
            <a:ext cx="320040" cy="36576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7739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96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9640" y="2633472"/>
            <a:ext cx="164592" cy="987552"/>
          </a:xfrm>
          <a:prstGeom prst="rect">
            <a:avLst/>
          </a:prstGeom>
          <a:solidFill>
            <a:srgbClr val="1A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14232" y="2633472"/>
            <a:ext cx="3310128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7384" y="27249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</a:rPr>
              <a:t>MongoDB  :27017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309067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Embedded guest docs · AI logs
Schema-free · aggregation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108960"/>
            <a:ext cx="320040" cy="36576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29626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8A45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3822192"/>
            <a:ext cx="164592" cy="987552"/>
          </a:xfrm>
          <a:prstGeom prst="rect">
            <a:avLst/>
          </a:prstGeom>
          <a:solidFill>
            <a:srgbClr val="505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4232" y="3822192"/>
            <a:ext cx="3310128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7384" y="391363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</a:rPr>
              <a:t>Neo4j  :7687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427939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>Graph: nodes, relationships
Cypher · multi-hop traversal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297680"/>
            <a:ext cx="320040" cy="36576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9" y="41513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05AD0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5577840"/>
            <a:ext cx="11795760" cy="658368"/>
          </a:xfrm>
          <a:prstGeom prst="rect">
            <a:avLst/>
          </a:prstGeom>
          <a:solidFill>
            <a:srgbClr val="E2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2C2C"/>
                </a:solidFill>
              </a:rPr>
              <a:t>POST /api/migrate  →  Copies data from MySQL into MongoDB &amp; Neo4j   ·   Production: CDC (Change Data Capture) + Kafka for real-time, event-driven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 · Relational Database Design — 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Entities, PK/FK, cardinalities · 13 tables · InnoDB (ACID)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2788920"/>
            <a:ext cx="1920240" cy="283464"/>
          </a:xfrm>
          <a:prstGeom prst="rect">
            <a:avLst/>
          </a:prstGeom>
          <a:solidFill>
            <a:srgbClr val="0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" y="2816351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3072384"/>
            <a:ext cx="1920240" cy="748333703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3108960"/>
            <a:ext cx="179222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guest_id  BIGINT  AUTO_INC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268980"/>
            <a:ext cx="179222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first_name, last_name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429000"/>
            <a:ext cx="179222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email UNIQUE, phone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788920"/>
            <a:ext cx="2514600" cy="283464"/>
          </a:xfrm>
          <a:prstGeom prst="rect">
            <a:avLst/>
          </a:prstGeom>
          <a:solidFill>
            <a:srgbClr val="0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816351"/>
            <a:ext cx="2404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reservation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3072384"/>
            <a:ext cx="2514600" cy="894655991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3108960"/>
            <a:ext cx="23865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reservation_id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268980"/>
            <a:ext cx="23865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FK  guest_id, room_id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429000"/>
            <a:ext cx="23865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FK  room_type_id, booked_rate_id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3589020"/>
            <a:ext cx="23865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status ENUM, booked_nightly_price 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788920"/>
            <a:ext cx="2011680" cy="283464"/>
          </a:xfrm>
          <a:prstGeom prst="rect">
            <a:avLst/>
          </a:prstGeom>
          <a:solidFill>
            <a:srgbClr val="0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3" y="2816351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3072384"/>
            <a:ext cx="2011680" cy="748333703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3108960"/>
            <a:ext cx="188366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room_id  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268980"/>
            <a:ext cx="188366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FK  room_type_id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429000"/>
            <a:ext cx="188366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room_number, status, occupied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1298448"/>
            <a:ext cx="2011680" cy="283464"/>
          </a:xfrm>
          <a:prstGeom prst="rect">
            <a:avLst/>
          </a:prstGeom>
          <a:solidFill>
            <a:srgbClr val="1A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3" y="132588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room_type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1581912"/>
            <a:ext cx="2011680" cy="748333703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8" y="1618488"/>
            <a:ext cx="188366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room_type_id  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1778508"/>
            <a:ext cx="188366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name  (Single/Double/Suite)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1938528"/>
            <a:ext cx="188366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max_occupancy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1298448"/>
            <a:ext cx="2286000" cy="283464"/>
          </a:xfrm>
          <a:prstGeom prst="rect">
            <a:avLst/>
          </a:prstGeom>
          <a:solidFill>
            <a:srgbClr val="1A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0104" y="132588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season_rate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1581912"/>
            <a:ext cx="2286000" cy="748333703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1618488"/>
            <a:ext cx="21579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rate_id  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1778508"/>
            <a:ext cx="21579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FK  room_type_id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1938528"/>
            <a:ext cx="21579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season, price_per_night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2788920"/>
            <a:ext cx="2331720" cy="283464"/>
          </a:xfrm>
          <a:prstGeom prst="rect">
            <a:avLst/>
          </a:prstGeom>
          <a:solidFill>
            <a:srgbClr val="1A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0104" y="2816351"/>
            <a:ext cx="2221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room_cleaning_task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3072384"/>
            <a:ext cx="2331720" cy="748333703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3108960"/>
            <a:ext cx="2203703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task_id  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268980"/>
            <a:ext cx="2203703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FK  room_id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3429000"/>
            <a:ext cx="2203703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task_type, scheduled_date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2788920"/>
            <a:ext cx="1828800" cy="283464"/>
          </a:xfrm>
          <a:prstGeom prst="rect">
            <a:avLst/>
          </a:prstGeom>
          <a:solidFill>
            <a:srgbClr val="1A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6144" y="2816351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cleaner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3072384"/>
            <a:ext cx="1828800" cy="748333703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5288" y="3108960"/>
            <a:ext cx="17007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cleaner_id  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05288" y="3268980"/>
            <a:ext cx="17007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first_name, last_name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05288" y="3429000"/>
            <a:ext cx="17007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phone, is_active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617720"/>
            <a:ext cx="2103120" cy="283464"/>
          </a:xfrm>
          <a:prstGeom prst="rect">
            <a:avLst/>
          </a:prstGeom>
          <a:solidFill>
            <a:srgbClr val="7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78024" y="4645152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bill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23160" y="4901184"/>
            <a:ext cx="2103120" cy="748333703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87168" y="4937760"/>
            <a:ext cx="1975103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bill_id  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87168" y="5097780"/>
            <a:ext cx="1975103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FK  reservation_id  UNIQUE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87168" y="5257800"/>
            <a:ext cx="1975103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total_amount, opened_at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4617720"/>
            <a:ext cx="1920240" cy="283464"/>
          </a:xfrm>
          <a:prstGeom prst="rect">
            <a:avLst/>
          </a:prstGeom>
          <a:solidFill>
            <a:srgbClr val="7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024" y="4645152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bill_item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" y="4901184"/>
            <a:ext cx="1920240" cy="748333703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1168" y="4937760"/>
            <a:ext cx="179222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bill_item_id  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168" y="5097780"/>
            <a:ext cx="179222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FK  bill_id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1168" y="5257800"/>
            <a:ext cx="179222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item_type, unit_price, qty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" y="3977639"/>
            <a:ext cx="1828800" cy="283464"/>
          </a:xfrm>
          <a:prstGeom prst="rect">
            <a:avLst/>
          </a:prstGeom>
          <a:solidFill>
            <a:srgbClr val="5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0704" y="4005072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reservation_guest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" y="4261103"/>
            <a:ext cx="1828800" cy="602011415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9848" y="4297679"/>
            <a:ext cx="17007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(reservation_id, guest_id)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" y="4457699"/>
            <a:ext cx="170078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is_primary  BIT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20" y="3977639"/>
            <a:ext cx="2468880" cy="283464"/>
          </a:xfrm>
          <a:prstGeom prst="rect">
            <a:avLst/>
          </a:prstGeom>
          <a:solidFill>
            <a:srgbClr val="5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44584" y="4005072"/>
            <a:ext cx="2359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room_cleaning_assignment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89720" y="4261103"/>
            <a:ext cx="2468880" cy="455689127736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53728" y="4297679"/>
            <a:ext cx="2340864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2C2C2C"/>
                </a:solidFill>
              </a:rPr>
              <a:t>PK  (task_id, cleaner_id)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86600" y="1697584"/>
            <a:ext cx="548639" cy="2011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23176" y="149733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149733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70702" y="2116836"/>
            <a:ext cx="20116" cy="672083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216255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0" y="2633471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86600" y="3188055"/>
            <a:ext cx="548639" cy="2011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23176" y="298780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9208" y="298780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7400" y="3188055"/>
            <a:ext cx="-1051560" cy="2011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93976" y="298780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4640" y="3188055"/>
            <a:ext cx="-411480" cy="2011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67128" y="298780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10182" y="3607308"/>
            <a:ext cx="20116" cy="370331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937760" y="3268066"/>
            <a:ext cx="137159" cy="2011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74336" y="306781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18888" y="306781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66959" y="3188055"/>
            <a:ext cx="-777239" cy="2011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03535" y="298780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658600" y="3188055"/>
            <a:ext cx="-1417320" cy="2011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85248" y="298780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4102" y="3607308"/>
            <a:ext cx="20116" cy="370331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70402" y="3767327"/>
            <a:ext cx="20116" cy="85039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26180" y="3813047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26180" y="44622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57400" y="5016856"/>
            <a:ext cx="365759" cy="2011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01368" y="481660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67128" y="481660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085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7160" y="6035040"/>
            <a:ext cx="11887200" cy="566928"/>
          </a:xfrm>
          <a:prstGeom prst="rect">
            <a:avLst/>
          </a:prstGeom>
          <a:solidFill>
            <a:srgbClr val="E0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65760" y="6236208"/>
            <a:ext cx="182880" cy="182880"/>
          </a:xfrm>
          <a:prstGeom prst="rect">
            <a:avLst/>
          </a:prstGeom>
          <a:solidFill>
            <a:srgbClr val="0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03504" y="61904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Core entity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697479" y="6236208"/>
            <a:ext cx="182880" cy="182880"/>
          </a:xfrm>
          <a:prstGeom prst="rect">
            <a:avLst/>
          </a:prstGeom>
          <a:solidFill>
            <a:srgbClr val="1A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935223" y="61904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Type / rate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0" y="6236208"/>
            <a:ext cx="182880" cy="182880"/>
          </a:xfrm>
          <a:prstGeom prst="rect">
            <a:avLst/>
          </a:prstGeom>
          <a:solidFill>
            <a:srgbClr val="1A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66944" y="61904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Housekeeping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60919" y="6236208"/>
            <a:ext cx="182880" cy="182880"/>
          </a:xfrm>
          <a:prstGeom prst="rect">
            <a:avLst/>
          </a:prstGeom>
          <a:solidFill>
            <a:srgbClr val="7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98663" y="61904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Billing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92640" y="6236208"/>
            <a:ext cx="182880" cy="182880"/>
          </a:xfrm>
          <a:prstGeom prst="rect">
            <a:avLst/>
          </a:prstGeom>
          <a:solidFill>
            <a:srgbClr val="5A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30384" y="61904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Junction (M:N)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" y="605332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06000"/>
                </a:solidFill>
              </a:rPr>
              <a:t>★ booked_nightly_price = historical SNAPSHOT (deliberate, not a 3NF violation)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 · Normalization — 1NF → 3NF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How we reached our schema and key design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97280" cy="594360"/>
          </a:xfrm>
          <a:prstGeom prst="rect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1NF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3657600" cy="347472"/>
          </a:xfrm>
          <a:prstGeom prst="rect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Atomic values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13432"/>
            <a:ext cx="3657600" cy="3767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347472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No lists/arrays in one column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Each field = one indivisible value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✓ credit_card_last4: only 4 digits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✓ status: one ENUM value per row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✓ Reservations in own table,
   not comma-list in guest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10972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2NF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65960"/>
            <a:ext cx="36576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Full key dependency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13432"/>
            <a:ext cx="3657600" cy="3767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368296"/>
            <a:ext cx="347472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All non-key fields depend on
the WHOLE primary key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Relevant for COMPOSITE PKs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✓ reservation_guest.is_primary
   depends on BOTH columns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✗ Would be wrong: guest_email
   depends only on guest_id
   → moved to guest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1097280" cy="5943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3NF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3657600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93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No transitive dependencies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313432"/>
            <a:ext cx="3657600" cy="3767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68296"/>
            <a:ext cx="347472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Non-key fields must not depend
on other non-key fields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A → B → C means C moves
to its own table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✓ room_type_name &amp; max_occupancy
   live in room_type, NOT in room
   or reservation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⚡ Exception: booked_nightly_price
   is intentional snapshot,
   not a violation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 · MongoDB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Collections, embedding vs. referencing, document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0292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075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guest collection  (embedded)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5029200" cy="486460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48463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{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"guestId": 5,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"firstName": "Magnus",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"email": "...",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"reservations": [          ← EMBEDDED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{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"reservationId": 42,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"checkInDate": "2024-06-01",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"roomType": "Double",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"bills": [             ← EMBEDDED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  {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    "totalAmount": 2400.00,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    "items": [...]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  }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  ]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  }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  ]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A8FF78"/>
                </a:solidFill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2179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30759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EMBEDDED — Guest + Reservations + Bills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627632"/>
            <a:ext cx="6217920" cy="1755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682496"/>
            <a:ext cx="60350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One document = full guest history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Fetch everything in a single query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No JOINs needed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Best when: data is always read together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Trade-off: updates must sync with MySQL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566160"/>
            <a:ext cx="6217920" cy="347472"/>
          </a:xfrm>
          <a:prstGeom prst="rect">
            <a:avLst/>
          </a:prstGeom>
          <a:solidFill>
            <a:srgbClr val="2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59359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REFERENCED — Rooms / Cleaners / Season Rates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913632"/>
            <a:ext cx="62179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3968496"/>
            <a:ext cx="60350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Exist independently of reservations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Shared across many documents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Updated frequently (room status)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Best when: high reuse, independent lifecycle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Stored as separate collections with IDs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5486400"/>
            <a:ext cx="6217920" cy="347472"/>
          </a:xfrm>
          <a:prstGeom prst="rect">
            <a:avLst/>
          </a:prstGeom>
          <a:solidFill>
            <a:srgbClr val="8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55138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ai_interactions  (MongoDB only)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5833872"/>
            <a:ext cx="62179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5888736"/>
            <a:ext cx="6035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Unstructured LLM chat logs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Schema-free — no fixed columns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sessionId, userMessage, aiResponse,
tokensUsed, model, timestamp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5 · Neo4j Graph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Nodes, relationships, properties — the hotel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26464"/>
            <a:ext cx="182880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1449324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:Guest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00784"/>
            <a:ext cx="1828800" cy="515721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1728216"/>
            <a:ext cx="170078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guestId  |  firstName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881835"/>
            <a:ext cx="170078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lastName  | 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2035454"/>
            <a:ext cx="170078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phone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2" y="1426464"/>
            <a:ext cx="228600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1449324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:Reservation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0592" y="1700784"/>
            <a:ext cx="2286000" cy="515721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1728216"/>
            <a:ext cx="215798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reservationId  | 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881835"/>
            <a:ext cx="215798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checkIn  |  checkOut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035454"/>
            <a:ext cx="215798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nights  |  bookedPrice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3792" y="1426464"/>
            <a:ext cx="210312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5" y="1449324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:Room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93792" y="1700784"/>
            <a:ext cx="2103120" cy="515721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1728216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roomId  |  roomNumber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1881835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roomStatus  |  cleanStatus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035454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occupied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5552" y="1426464"/>
            <a:ext cx="233172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0416" y="1449324"/>
            <a:ext cx="22219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:RoomType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45552" y="1700784"/>
            <a:ext cx="2331720" cy="362102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728216"/>
            <a:ext cx="22037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name  (Single/Double/Suite)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1881835"/>
            <a:ext cx="22037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maxOccupancy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50592" y="3108960"/>
            <a:ext cx="210312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05456" y="3131820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:Bill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50592" y="3383280"/>
            <a:ext cx="2103120" cy="362102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3410712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billId  |  totalAmount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3564331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openedAt  |  closedAt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3108960"/>
            <a:ext cx="237744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9783" y="3131820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:RoomCleaningTask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3383280"/>
            <a:ext cx="2377440" cy="362102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38928" y="3410712"/>
            <a:ext cx="224942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taskId  |  taskType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3564331"/>
            <a:ext cx="2249424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scheduledDate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45552" y="3108960"/>
            <a:ext cx="233172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0416" y="3131820"/>
            <a:ext cx="22219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:SeasonRate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45552" y="3383280"/>
            <a:ext cx="2331720" cy="362102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3410712"/>
            <a:ext cx="22037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season  |  pricePerNight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564331"/>
            <a:ext cx="22037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validFrom  |  validTo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0592" y="4645152"/>
            <a:ext cx="210312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05456" y="4668012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:BillItem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50592" y="4919472"/>
            <a:ext cx="2103120" cy="515721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14600" y="4946904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billItemId  |  itemType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5100523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quantity  |  unitPrice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5254142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lineTotal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93792" y="4645152"/>
            <a:ext cx="2103120" cy="274320"/>
          </a:xfrm>
          <a:prstGeom prst="rect">
            <a:avLst/>
          </a:prstGeom>
          <a:solidFill>
            <a:srgbClr val="4A5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48655" y="4668012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:Cleaner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3792" y="4919472"/>
            <a:ext cx="2103120" cy="515721"/>
          </a:xfrm>
          <a:prstGeom prst="rect">
            <a:avLst/>
          </a:prstGeom>
          <a:solidFill>
            <a:srgbClr val="EA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4946904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cleanerId  |  firstName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5100523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lastName  |  phone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5254142"/>
            <a:ext cx="1975103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C2C2C"/>
                </a:solidFill>
              </a:rPr>
              <a:t>isActive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0" y="1810511"/>
            <a:ext cx="438912" cy="21945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13432" y="1702612"/>
            <a:ext cx="1554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88"/>
                </a:solidFill>
              </a:rPr>
              <a:t>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44752" y="1693468"/>
            <a:ext cx="1572768" cy="237744"/>
          </a:xfrm>
          <a:prstGeom prst="rect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44752" y="16888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[:BOOKED_BY]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36592" y="1810511"/>
            <a:ext cx="457200" cy="21945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56631" y="1702612"/>
            <a:ext cx="1554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88"/>
                </a:solidFill>
              </a:rPr>
              <a:t>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78807" y="1693468"/>
            <a:ext cx="1572768" cy="237744"/>
          </a:xfrm>
          <a:prstGeom prst="rect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78807" y="16888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[:ASSIGNED_TO]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96912" y="1810511"/>
            <a:ext cx="548640" cy="21945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08392" y="1702612"/>
            <a:ext cx="1554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88"/>
                </a:solidFill>
              </a:rPr>
              <a:t>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84847" y="1693468"/>
            <a:ext cx="1572768" cy="237744"/>
          </a:xfrm>
          <a:prstGeom prst="rect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84847" y="16888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[:IS_TYPE]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82619" y="2216505"/>
            <a:ext cx="21945" cy="892454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11296" y="2926079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88"/>
                </a:solidFill>
              </a:rPr>
              <a:t>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85032" y="2548432"/>
            <a:ext cx="1965960" cy="228600"/>
          </a:xfrm>
          <a:prstGeom prst="rect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85032" y="254843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[:HAS_BILL]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91179" y="3745382"/>
            <a:ext cx="21945" cy="899769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19856" y="446227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88"/>
                </a:solidFill>
              </a:rPr>
              <a:t>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93592" y="4080967"/>
            <a:ext cx="1965960" cy="228600"/>
          </a:xfrm>
          <a:prstGeom prst="rect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93592" y="4080967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[:CONTAINS_ITEM]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34379" y="2216505"/>
            <a:ext cx="21945" cy="892454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6" y="2926079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88"/>
                </a:solidFill>
              </a:rPr>
              <a:t>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36792" y="2548432"/>
            <a:ext cx="1965960" cy="228600"/>
          </a:xfrm>
          <a:prstGeom prst="rect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36792" y="254843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[:HAS_CLEANING_TASK]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4379" y="3745382"/>
            <a:ext cx="21945" cy="899769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6" y="3763670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88"/>
                </a:solidFill>
              </a:rPr>
              <a:t>▲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36792" y="4080967"/>
            <a:ext cx="1965960" cy="228600"/>
          </a:xfrm>
          <a:prstGeom prst="rect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36792" y="4080967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[:ASSIGNED_TO]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00439" y="2062886"/>
            <a:ext cx="21945" cy="1046073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29116" y="2926079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88"/>
                </a:solidFill>
              </a:rPr>
              <a:t>▼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02852" y="2471623"/>
            <a:ext cx="1965960" cy="228600"/>
          </a:xfrm>
          <a:prstGeom prst="rect">
            <a:avLst/>
          </a:prstGeom>
          <a:solidFill>
            <a:srgbClr val="AA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02852" y="2471623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[:HAS_RATE]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5961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Cypher — traverse 3 hops in one expression, no JOINs: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" y="5797296"/>
            <a:ext cx="1005840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2608" y="5888736"/>
            <a:ext cx="9838944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FF78"/>
                </a:solidFill>
                <a:latin typeface="Courier New"/>
              </a:rPr>
              <a:t>MATCH (g:Guest)-[:BOOKED_BY]-&gt;(res:Reservation)-[:ASSIGNED_TO]-&gt;(r:Room)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WHERE g.guestId = 5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RETURN g.firstName, res.status, r.roomNumber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6 · Cross-Database Query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Business scenario: find all CONFIRMED reservations for room 101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34440"/>
            <a:ext cx="3749039" cy="347472"/>
          </a:xfrm>
          <a:prstGeom prst="rect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MySQL  (SQL)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81912"/>
            <a:ext cx="3749039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673352"/>
            <a:ext cx="3529583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FF78"/>
                </a:solidFill>
                <a:latin typeface="Courier New"/>
              </a:rPr>
              <a:t>SELECT g.first_name, g.last_name,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     r.reference_no,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     r.check_in_date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FROM reservation r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JOIN guest g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ON r.guest_id = g.guest_id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JOIN room rm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ON r.room_id = rm.room_id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WHERE rm.room_number = '101'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AND r.status = 'CONFIRMED';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234440"/>
            <a:ext cx="3749039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26187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MongoDB  (Aggregation)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581912"/>
            <a:ext cx="3749039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673352"/>
            <a:ext cx="3529583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FF78"/>
                </a:solidFill>
                <a:latin typeface="Courier New"/>
              </a:rPr>
              <a:t>db.guests.aggregate([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{ $unwind: '$reservations' },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{ $match: {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  'reservations.room': '101',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  'reservations.status':'CONFIRMED'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}},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{ $project: {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  firstName:1, lastName:1,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  'reservations.referenceNo':1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}}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3749039" cy="347472"/>
          </a:xfrm>
          <a:prstGeom prst="rect">
            <a:avLst/>
          </a:prstGeom>
          <a:solidFill>
            <a:srgbClr val="606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26187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Neo4j  (Cypher)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581912"/>
            <a:ext cx="3749039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673352"/>
            <a:ext cx="3529583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FF78"/>
                </a:solidFill>
                <a:latin typeface="Courier New"/>
              </a:rPr>
              <a:t>MATCH (g:Guest)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-[:BOOKED_BY]-&gt;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(res:Reservation)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-[:ASSIGNED_TO]-&gt;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(r:Room)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WHERE r.roomNumber = '101'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AND res.status = 'CONFIRMED'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RETURN g.firstName,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     g.lastName,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     res.referenceNo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937760"/>
            <a:ext cx="11823192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9651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5285232"/>
            <a:ext cx="11823192" cy="1161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340096"/>
            <a:ext cx="1164031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MySQL — explicit JOINs, set-based, ACID-strong, schema-enforced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MongoDB — pipeline ($unwind → $match → $project), one document fetch, flexible schema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Neo4j — pattern-match traversal (MATCH), no JOINs, best for multi-hop graph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7 · Transactions — ACID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Concrete example: Guest check-in — 3 operations, one transaction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0" cy="640080"/>
          </a:xfrm>
          <a:prstGeom prst="rect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</a:rPr>
              <a:t>Atomicity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31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</a:rPr>
              <a:t>All 3 steps succeed
or none at 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5486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31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</a:rPr>
              <a:t>FK constraints ensure
no orphan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" cy="6400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</a:rPr>
              <a:t>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</a:rPr>
              <a:t>Two guests booking
same room: only 1 wins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280160"/>
            <a:ext cx="54864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</a:rPr>
              <a:t>Durability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331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</a:rPr>
              <a:t>Committed data
survives server crash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685800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08960"/>
            <a:ext cx="6638544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FF78"/>
                </a:solidFill>
                <a:latin typeface="Courier New"/>
              </a:rPr>
              <a:t>BEGIN;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UPDATE reservation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SET status = 'CHECKED_IN'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WHERE reservation_id = 42;          -- step 1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UPDATE room SET occupied = 1,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room_status = 'OCCUPIED'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WHERE room_id = 15;                 -- step 2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INSERT INTO bill (reservation_id, opened_at, total_amount)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VALUES (42, NOW(), 0.00);           -- step 3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COMMIT;   -- saves all three permanently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-- If anything fails → ROLLBACK (nothing is saved)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017520"/>
            <a:ext cx="466344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0449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Spring Boot — @Transactional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364992"/>
            <a:ext cx="466344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419856"/>
            <a:ext cx="448056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Service methods annotated with @Transactional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Spring wraps the method in BEGIN...COMMIT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Any exception triggers automatic ROLLBACK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Neo4j uses separate Neo4jTransactionManager bean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8 · Indexes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Key indexes, design decisions, and what we left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116128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Index = book's back index — jump straight to the page, no full scan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1920240" cy="3383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110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74519"/>
            <a:ext cx="3291840" cy="3383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91109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874519"/>
            <a:ext cx="1828800" cy="3383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91109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874519"/>
            <a:ext cx="4572000" cy="3383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911095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Why?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12847"/>
            <a:ext cx="192024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24942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guest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212847"/>
            <a:ext cx="329184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224942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idx_guest_email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212847"/>
            <a:ext cx="182880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22494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B-tree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212847"/>
            <a:ext cx="457200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249423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Login lookup — most frequent query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51175"/>
            <a:ext cx="19202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87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guest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2551175"/>
            <a:ext cx="3291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25877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idx_guest_name (last, first)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551175"/>
            <a:ext cx="1828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58775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Composite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551175"/>
            <a:ext cx="4572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258775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Name search — multi-column sort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89503"/>
            <a:ext cx="192024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926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reservation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889503"/>
            <a:ext cx="329184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2926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idx_reservation_dates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889503"/>
            <a:ext cx="182880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29260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Composite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889503"/>
            <a:ext cx="457200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292607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Date-range availability queries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227831"/>
            <a:ext cx="19202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2644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reservation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227831"/>
            <a:ext cx="3291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0280" y="32644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idx_reservation_status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227831"/>
            <a:ext cx="1828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32644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B-tree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3227831"/>
            <a:ext cx="4572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26440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Filter CONFIRMED / CHECKED_IN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566159"/>
            <a:ext cx="192024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60273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reservation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3566159"/>
            <a:ext cx="329184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0280" y="360273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idx_reservation_guest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3566159"/>
            <a:ext cx="182880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2120" y="360273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B-tree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3566159"/>
            <a:ext cx="457200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20" y="3602735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FK join: guest's reservations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19202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410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bill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94560" y="3904487"/>
            <a:ext cx="3291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0280" y="394106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idx_bill_reservation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3904487"/>
            <a:ext cx="1828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32120" y="394106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B-tree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3904487"/>
            <a:ext cx="4572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60920" y="3941063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FK join performance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242815"/>
            <a:ext cx="192024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2793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room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94560" y="4242815"/>
            <a:ext cx="329184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40280" y="42793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idx_room_status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0" y="4242815"/>
            <a:ext cx="182880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32120" y="427939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B-tree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0" y="4242815"/>
            <a:ext cx="4572000" cy="3383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60920" y="427939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Filter AVAILABLE rooms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581143"/>
            <a:ext cx="19202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46177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audit_log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94560" y="4581143"/>
            <a:ext cx="3291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40280" y="46177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idx_audit_table/op/time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0" y="4581143"/>
            <a:ext cx="18288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32120" y="46177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B-tree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0" y="4581143"/>
            <a:ext cx="4572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60920" y="461771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2C2C"/>
                </a:solidFill>
              </a:rPr>
              <a:t>Fast audit trail queries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212080"/>
            <a:ext cx="116128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523951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What we did NOT index — and why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559552"/>
            <a:ext cx="1161288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5614416"/>
            <a:ext cx="11430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bill_item.description — text search unused, low selectivity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occupied BIT — only 2 values (low cardinality): full scan = ~50% of rows anyway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Indexes slow down INSERT/UPDATE — only add where the SELECT gain outweighs the write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9 · Security &amp;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JWT authentication, BCrypt, SQL injection prevention, audit triggers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347472"/>
          </a:xfrm>
          <a:prstGeom prst="rect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075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JWT — JSON Web Token (stateless auth)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566928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5486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1. POST /api/auth/login → server returns signed token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2. Client sends: Authorization: Bearer &lt;token&gt;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3. Server verifies signature — NO database call needed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Token contains: username, role, expiry  (HS512 signed)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760720" cy="347472"/>
          </a:xfrm>
          <a:prstGeom prst="rect">
            <a:avLst/>
          </a:prstGeom>
          <a:solidFill>
            <a:srgbClr val="6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075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BCrypt — one-way password hashing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27632"/>
            <a:ext cx="576072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82496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"admin123" → BCrypt → "$2a$10$N9qo8uLO..."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Cannot be reversed — no plain-text passwords stored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Salt built-in: same password → different hash each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56692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82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SQL Injection Prevention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02152"/>
            <a:ext cx="566928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6"/>
            <a:ext cx="548640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UNSAFE: "SELECT * FROM guest WHERE email = '" + input + "'"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  Attack: input = "' OR '1'='1"  → returns ALL guests!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SAFE: Spring Data JPA parameterized queries: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  findByEmail(String email)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  → SELECT * FROM guest WHERE email = ?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  Input is treated as DATA, never as SQL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154680"/>
            <a:ext cx="57607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1821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Roles &amp; Access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02152"/>
            <a:ext cx="576072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557016"/>
            <a:ext cx="55778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ADMIN — full access (delete, create, view all)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STAFF — can read/update reservations, not delete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CLEANER — can only view/update cleaning tasks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Enforced via Spring Security @PreAuthorize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846320"/>
            <a:ext cx="5760720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87375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Database Audit Triggers (05_audit.sql)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5193792"/>
            <a:ext cx="576072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5248656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Triggers on: reservation, bill, bill_item, guest, room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Each INSERT/UPDATE/DELETE → row appended to audit_log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Stores: old_values (JSON), new_values (JSON), changed_by, changed_at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App does NOTHING — database fires trigger automatically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54680"/>
            <a:ext cx="548640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246120"/>
            <a:ext cx="5266944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FF78"/>
                </a:solidFill>
                <a:latin typeface="Courier New"/>
              </a:rPr>
              <a:t>CREATE TRIGGER tr_audit_reservation_update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AFTER UPDATE ON reservation FOR EACH ROW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INSERT INTO audit_log(table_name, operation_type,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record_id, old_values, new_values, changed_by)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VALUES ('reservation','UPDATE', NEW.reservation_id,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JSON_OBJECT('status', OLD.status),</a:t>
            </a:r>
          </a:p>
          <a:p>
            <a:r>
              <a:rPr sz="950">
                <a:solidFill>
                  <a:srgbClr val="A8FF78"/>
                </a:solidFill>
                <a:latin typeface="Courier New"/>
              </a:rPr>
              <a:t>  JSON_OBJECT('status', NEW.status), CURRENT_USER());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10 · Trade-offs &amp; Reflections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</a:rPr>
              <a:t>Why three databases — and 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347472"/>
          </a:xfrm>
          <a:prstGeom prst="rect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0759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Why MySQL?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3749039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356615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Structured, relational hotel data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ACID guarantees for payments &amp; bookings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Complex multi-table queries (views, JOINs)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Referential integrity via FK constraints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749039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30759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Why MongoDB?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627632"/>
            <a:ext cx="3749039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682496"/>
            <a:ext cx="356615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Full guest history in one document call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Unstructured AI/LLM interaction logs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Schema-free — add fields without migration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Read-heavy workload with nested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49039" cy="347472"/>
          </a:xfrm>
          <a:prstGeom prst="rect">
            <a:avLst/>
          </a:prstGeom>
          <a:solidFill>
            <a:srgbClr val="606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0759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Why Neo4j?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27632"/>
            <a:ext cx="3749039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82496"/>
            <a:ext cx="356615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Multi-hop relationship traversal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Natural for 'who cleaned what booked by whom'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Graph queries &gt; recursive SQL for deep paths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Potential for recommendation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11640312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3075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What we would do differently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50792"/>
            <a:ext cx="11640312" cy="2487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05656"/>
            <a:ext cx="1145743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Date types: stored dates as String in Neo4j instead of native date/datetime types → less efficient, cannot use Cypher date math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Sync strategy: manual POST /api/migrate → in production would use Change Data Capture (CDC) with Kafka for automatic, event-driven propagation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Multi-store Spring Boot: auto-configuration does NOT handle JPA + Neo4j transaction managers together → required explicit @Bean definitions for both (JpaTransactionManager @Primary + Neo4jTransactionManager named bean)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2C2C"/>
                </a:solidFill>
              </a:rPr>
              <a:t>Data consistency: MongoDB/Neo4j counts can drift from MySQL if migration is not re-run after every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